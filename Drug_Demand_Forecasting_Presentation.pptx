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Demand Forecasting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Inventory Optimization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Pharmaceutical Supply Chain Solution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45720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Business Capability  ·  Hackathon 2025  ·  Campus Hire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Our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cause patient safety risks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leads to waste &amp; expiry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demand planning is error-prone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(news, events) ignored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4 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389888"/>
            <a:ext cx="45720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Accurate Drug Demand Forecasting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093976"/>
            <a:ext cx="45720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21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Inventory Optimization (Safety Stock, ROP)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798064"/>
            <a:ext cx="45720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8254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NLP on Social &amp; Event 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502152"/>
            <a:ext cx="45720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5295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Scalable System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1,827 records  ·  6 Drugs  ·  4 Regions  ·  2020–2025  ·  3 Text Sources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595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DATA INGESTION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896112"/>
            <a:ext cx="0" cy="4389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8595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ERP / News APIs → ETL Pipeline → SQLite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26464"/>
            <a:ext cx="0" cy="155448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81912"/>
            <a:ext cx="8412480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367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FEATURE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673352"/>
            <a:ext cx="0" cy="4389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3677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 · Lag/Rolling demand · NLP Sentiment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203704"/>
            <a:ext cx="0" cy="155448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59152"/>
            <a:ext cx="8412480" cy="6217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140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ML MODELLING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450592"/>
            <a:ext cx="0" cy="4389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41401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Gradient Boosting  ·  Ridge Baseline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980944"/>
            <a:ext cx="0" cy="155448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36392"/>
            <a:ext cx="8412480" cy="621792"/>
          </a:xfrm>
          <a:prstGeom prst="rect">
            <a:avLst/>
          </a:prstGeom>
          <a:solidFill>
            <a:srgbClr val="02A89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912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INVENTORY OPTIMISATION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227832"/>
            <a:ext cx="0" cy="4389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1912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· Reorder Point · EOQ Calculation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3758184"/>
            <a:ext cx="0" cy="155448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13632"/>
            <a:ext cx="8412480" cy="62179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68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OUTPUT &amp; MONITORING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4005072"/>
            <a:ext cx="0" cy="4389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96849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CSV Reports · Drift Detection · Alerts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5303520" cy="21488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777240"/>
            <a:ext cx="3291840" cy="2148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3063240"/>
            <a:ext cx="9144000" cy="3657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Insights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broadly stable (90–120 units avg) with occasional event-driven spikes.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shows elevated demand spread vs. Summer seasons.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flag adds ~5–8% demand uplift when active.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outliers in CipID4 (up to 10M units) corrected via IQR-based clipping.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42062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Quarter, Week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Year, Weekday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macro &amp; micro cycles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2062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&amp; Rolling Demand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1615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lag 1, 7, 14, 30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&amp; 30-day rolling mean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autocorrelation signal (~65% importance)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77063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770632"/>
            <a:ext cx="420624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70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Sentiment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18211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text columns analysed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Boost / Reduce driver signal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77063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70632"/>
            <a:ext cx="4206240" cy="365760"/>
          </a:xfrm>
          <a:prstGeom prst="rect">
            <a:avLst/>
          </a:prstGeom>
          <a:solidFill>
            <a:srgbClr val="02A89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770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Encoding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18211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Drug, Region, Season, 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(train-fit only)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 ensured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 &amp;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82880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961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554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(Random Forest)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804672"/>
            <a:ext cx="1828800" cy="12344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8961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(Random Forest)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804672"/>
            <a:ext cx="1828800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8961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43400" y="1554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(Random Forest)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804672"/>
            <a:ext cx="2514600" cy="1234440"/>
          </a:xfrm>
          <a:prstGeom prst="rect">
            <a:avLst/>
          </a:prstGeom>
          <a:solidFill>
            <a:srgbClr val="02A8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8961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(Random Forest)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40280"/>
            <a:ext cx="4754880" cy="19202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120640" y="2240280"/>
            <a:ext cx="37947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Shape 15"/>
          <p:cNvSpPr/>
          <p:nvPr/>
        </p:nvSpPr>
        <p:spPr>
          <a:xfrm>
            <a:off x="5120640" y="2240280"/>
            <a:ext cx="155448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5166360" y="22402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2240280"/>
            <a:ext cx="73152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6720840" y="22402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06640" y="2240280"/>
            <a:ext cx="73152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22402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138160" y="2240280"/>
            <a:ext cx="64008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8183880" y="22402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20640" y="2697480"/>
            <a:ext cx="1554480" cy="438912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27" name="Text 24"/>
          <p:cNvSpPr/>
          <p:nvPr/>
        </p:nvSpPr>
        <p:spPr>
          <a:xfrm>
            <a:off x="5166360" y="26974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✓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675120" y="2697480"/>
            <a:ext cx="731520" cy="438912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29" name="Text 26"/>
          <p:cNvSpPr/>
          <p:nvPr/>
        </p:nvSpPr>
        <p:spPr>
          <a:xfrm>
            <a:off x="6720840" y="26974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19.69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06640" y="2697480"/>
            <a:ext cx="731520" cy="438912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31" name="Text 28"/>
          <p:cNvSpPr/>
          <p:nvPr/>
        </p:nvSpPr>
        <p:spPr>
          <a:xfrm>
            <a:off x="7452360" y="26974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39.24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38160" y="2697480"/>
            <a:ext cx="640080" cy="438912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33" name="Text 30"/>
          <p:cNvSpPr/>
          <p:nvPr/>
        </p:nvSpPr>
        <p:spPr>
          <a:xfrm>
            <a:off x="8183880" y="26974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0.182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120640" y="3154680"/>
            <a:ext cx="155448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5" name="Text 32"/>
          <p:cNvSpPr/>
          <p:nvPr/>
        </p:nvSpPr>
        <p:spPr>
          <a:xfrm>
            <a:off x="5166360" y="31546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75120" y="3154680"/>
            <a:ext cx="73152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7" name="Text 34"/>
          <p:cNvSpPr/>
          <p:nvPr/>
        </p:nvSpPr>
        <p:spPr>
          <a:xfrm>
            <a:off x="6720840" y="31546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406640" y="3154680"/>
            <a:ext cx="73152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9" name="Text 36"/>
          <p:cNvSpPr/>
          <p:nvPr/>
        </p:nvSpPr>
        <p:spPr>
          <a:xfrm>
            <a:off x="7452360" y="31546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56.86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138160" y="3154680"/>
            <a:ext cx="64008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1" name="Text 38"/>
          <p:cNvSpPr/>
          <p:nvPr/>
        </p:nvSpPr>
        <p:spPr>
          <a:xfrm>
            <a:off x="8183880" y="31546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120640" y="3611880"/>
            <a:ext cx="155448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0"/>
          <p:cNvSpPr/>
          <p:nvPr/>
        </p:nvSpPr>
        <p:spPr>
          <a:xfrm>
            <a:off x="5166360" y="36118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(Baseline)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675120" y="3611880"/>
            <a:ext cx="73152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36118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19.43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406640" y="3611880"/>
            <a:ext cx="73152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7" name="Text 44"/>
          <p:cNvSpPr/>
          <p:nvPr/>
        </p:nvSpPr>
        <p:spPr>
          <a:xfrm>
            <a:off x="7452360" y="36118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39.61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138160" y="3611880"/>
            <a:ext cx="640080" cy="43891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9" name="Text 46"/>
          <p:cNvSpPr/>
          <p:nvPr/>
        </p:nvSpPr>
        <p:spPr>
          <a:xfrm>
            <a:off x="8183880" y="36118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228600" y="42793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Random Forest selected as production model based on lowest RMSE and highest R².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&amp; Forecasts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4206240" cy="21945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51960" cy="2194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3108960"/>
            <a:ext cx="9144000" cy="3657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(1d, 7d, 14d, 30d) account for ~65% of total feature importance — recent demand is the strongest predictor.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identity and Region contribute ~20% — justifying drug-level, region-specific models.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(Month, Quarter) and Prescription Volume add meaningful marginal signal.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features rank lower but add non-linear context unavailable from demand history alone.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on Social Media &amp; Event Text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4846320" cy="21488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777240"/>
            <a:ext cx="3703320" cy="2148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3063240"/>
            <a:ext cx="9144000" cy="3657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Insights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 of records have Positive sentiment — pharma news environment is predominantly positive.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events (recalls, bans) correlate with local demand spikes of ~2–5%.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 carry Boost demand signals — 'approve', 'launch', 'infection' are dominant keywords.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bigrams: 'pain reliever', 'launch new drug', 'clinical trial', 'FDA approve', 'antibiotic demand'.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Optimization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× σ × √(Lead Time)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Z=1.65 (95% SL), LT=7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Demand × LT + Safety Stock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replenishment order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804672"/>
            <a:ext cx="2743200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Quantity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Avg Daily Demand × 14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EOQ approximation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77440"/>
            <a:ext cx="9144000" cy="3657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Inventory Recommendations (High-Priority SKUs)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118872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81635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2816352"/>
            <a:ext cx="100584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2816352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816352"/>
            <a:ext cx="164592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281635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Demand/Day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2816352"/>
            <a:ext cx="146304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281635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816352"/>
            <a:ext cx="164592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281635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816352"/>
            <a:ext cx="146304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81635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22783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22783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ParID06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554480" y="3227832"/>
            <a:ext cx="10058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600200" y="3227832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227832"/>
            <a:ext cx="1645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606040" y="322783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417.3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3227832"/>
            <a:ext cx="1463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322783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4,497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227832"/>
            <a:ext cx="1645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715000" y="322783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7,418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0" y="3227832"/>
            <a:ext cx="1463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60920" y="322783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5,842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639312"/>
            <a:ext cx="118872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63931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CipID4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554480" y="3639312"/>
            <a:ext cx="100584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5" name="Text 43"/>
          <p:cNvSpPr/>
          <p:nvPr/>
        </p:nvSpPr>
        <p:spPr>
          <a:xfrm>
            <a:off x="1600200" y="3639312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0" y="3639312"/>
            <a:ext cx="164592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7" name="Text 45"/>
          <p:cNvSpPr/>
          <p:nvPr/>
        </p:nvSpPr>
        <p:spPr>
          <a:xfrm>
            <a:off x="2606040" y="363931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342.7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06240" y="3639312"/>
            <a:ext cx="146304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9" name="Text 47"/>
          <p:cNvSpPr/>
          <p:nvPr/>
        </p:nvSpPr>
        <p:spPr>
          <a:xfrm>
            <a:off x="4251960" y="363931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3639312"/>
            <a:ext cx="164592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51" name="Text 49"/>
          <p:cNvSpPr/>
          <p:nvPr/>
        </p:nvSpPr>
        <p:spPr>
          <a:xfrm>
            <a:off x="5715000" y="363931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4,467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3639312"/>
            <a:ext cx="146304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53" name="Text 51"/>
          <p:cNvSpPr/>
          <p:nvPr/>
        </p:nvSpPr>
        <p:spPr>
          <a:xfrm>
            <a:off x="7360920" y="363931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4,798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405079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0507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CipID4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554480" y="4050792"/>
            <a:ext cx="10058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600200" y="4050792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60320" y="4050792"/>
            <a:ext cx="1645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2606040" y="405079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277.3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06240" y="4050792"/>
            <a:ext cx="1463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4251960" y="405079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3,194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669280" y="4050792"/>
            <a:ext cx="1645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715000" y="405079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5,135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315200" y="4050792"/>
            <a:ext cx="1463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7360920" y="405079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3,882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4462272"/>
            <a:ext cx="118872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67" name="Text 65"/>
          <p:cNvSpPr/>
          <p:nvPr/>
        </p:nvSpPr>
        <p:spPr>
          <a:xfrm>
            <a:off x="411480" y="446227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AmoxID1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554480" y="4462272"/>
            <a:ext cx="100584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69" name="Text 67"/>
          <p:cNvSpPr/>
          <p:nvPr/>
        </p:nvSpPr>
        <p:spPr>
          <a:xfrm>
            <a:off x="1600200" y="4462272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560320" y="4462272"/>
            <a:ext cx="164592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1" name="Text 69"/>
          <p:cNvSpPr/>
          <p:nvPr/>
        </p:nvSpPr>
        <p:spPr>
          <a:xfrm>
            <a:off x="2606040" y="446227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214.0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206240" y="4462272"/>
            <a:ext cx="146304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3" name="Text 71"/>
          <p:cNvSpPr/>
          <p:nvPr/>
        </p:nvSpPr>
        <p:spPr>
          <a:xfrm>
            <a:off x="4251960" y="446227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2,108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669280" y="4462272"/>
            <a:ext cx="164592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5" name="Text 73"/>
          <p:cNvSpPr/>
          <p:nvPr/>
        </p:nvSpPr>
        <p:spPr>
          <a:xfrm>
            <a:off x="5715000" y="446227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3,606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315200" y="4462272"/>
            <a:ext cx="1463040" cy="3931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7" name="Text 75"/>
          <p:cNvSpPr/>
          <p:nvPr/>
        </p:nvSpPr>
        <p:spPr>
          <a:xfrm>
            <a:off x="7360920" y="446227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2,996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6576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576" cy="43891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447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model: MAE 19.69 | RMSE 39.24 | R² 0.18 on held-out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36576" cy="43891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0574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dominate (65% importance) — demand history is key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36576" cy="43891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700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params computed for 24 Drug × Region combinations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36576" cy="43891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2826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identifies Boost/Reduce signals from 3 unstructured text sources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67912"/>
            <a:ext cx="36576" cy="43891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895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ETL → DB → Model → Output pipeline operational and reproducible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914400"/>
            <a:ext cx="0" cy="3749040"/>
          </a:xfrm>
          <a:prstGeom prst="line">
            <a:avLst/>
          </a:prstGeom>
          <a:noFill/>
          <a:ln w="19050">
            <a:solidFill>
              <a:srgbClr val="2A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20640" y="1444752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444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14447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ARIMA / Prophet for time-series benchmarking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05740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0574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BioBERT for pharmaceutical NLP accuracy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670048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on Azure ML with Kafka streaming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3282696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328269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in Power BI / Streamlit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3895344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389534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pharmacist-facing interface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Demand Forecasting &amp; Inventory Optimization</dc:title>
  <dc:subject>Hackathon Solution Presentation</dc:subject>
  <dc:creator>Data Science Team</dc:creator>
  <cp:lastModifiedBy>Data Science Team</cp:lastModifiedBy>
  <cp:revision>1</cp:revision>
  <dcterms:created xsi:type="dcterms:W3CDTF">2026-02-27T20:42:18Z</dcterms:created>
  <dcterms:modified xsi:type="dcterms:W3CDTF">2026-02-27T20:42:18Z</dcterms:modified>
</cp:coreProperties>
</file>